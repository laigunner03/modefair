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e70d67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e70d67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e70d6794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e70d6794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e70d6794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e70d679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e70d6794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e70d6794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e70d6794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e70d6794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e70d6794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e70d6794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e70d6794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e70d6794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e70d6794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e70d6794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e70d6794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e70d6794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e70d6794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e70d6794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e70d6794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e70d6794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laigunner03/modefair/blob/main/sample_-_superstore.xls" TargetMode="External"/><Relationship Id="rId4" Type="http://schemas.openxmlformats.org/officeDocument/2006/relationships/hyperlink" Target="https://github.com/laigunner03/modefair/blob/main/MF%20Supersales%20Analysis.twb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Supersales Pitch Deck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Executive Summary</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sz="1400"/>
              <a:t>Supersales as </a:t>
            </a:r>
            <a:r>
              <a:rPr lang="en-GB" sz="1400"/>
              <a:t>started</a:t>
            </a:r>
            <a:r>
              <a:rPr lang="en-GB" sz="1400"/>
              <a:t> as a furniture sales company since 2022. </a:t>
            </a:r>
            <a:r>
              <a:rPr lang="en-GB" sz="1400"/>
              <a:t>This document is serve as both an analysis of the overall sales for the past 3 years within the US and Canada market with recommendations</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rPr lang="en-GB" sz="1400"/>
              <a:t>As of 2026, it can be seen that our sales within Canada is unstable unlike our US market which is growing constantly since 2022. Our Product in the technology segment remains as our most profitable product segment despite the lower amount of quantity sold. Not only that, despite our website being online and in used by customer, we are lacking </a:t>
            </a:r>
            <a:r>
              <a:rPr lang="en-GB" sz="1400"/>
              <a:t>critical</a:t>
            </a:r>
            <a:r>
              <a:rPr lang="en-GB" sz="1400"/>
              <a:t> information in understanding both the user journey from our online advertisement and usage of the website</a:t>
            </a:r>
            <a:endParaRPr sz="1400"/>
          </a:p>
          <a:p>
            <a:pPr indent="0" lvl="0" marL="0" rtl="0" algn="l">
              <a:spcBef>
                <a:spcPts val="1200"/>
              </a:spcBef>
              <a:spcAft>
                <a:spcPts val="0"/>
              </a:spcAft>
              <a:buNone/>
            </a:pPr>
            <a:r>
              <a:t/>
            </a:r>
            <a:endParaRPr sz="1400"/>
          </a:p>
          <a:p>
            <a:pPr indent="0" lvl="0" marL="0" rtl="0" algn="l">
              <a:spcBef>
                <a:spcPts val="1200"/>
              </a:spcBef>
              <a:spcAft>
                <a:spcPts val="0"/>
              </a:spcAft>
              <a:buNone/>
            </a:pPr>
            <a:r>
              <a:rPr lang="en-GB" sz="1400"/>
              <a:t>Our web development team is required to work with our marketing team in linking up the online advertisement data with our sales data and to also include user journey data within our website in better understanding the user journey before pre-purchase. Not only that, it’s also recommended for the sales team to conduct surveys within the Canada market to better understand the requirements of the Canadian customers and make possible changes.</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Business problem and key questions</a:t>
            </a:r>
            <a:endParaRPr sz="1200">
              <a:solidFill>
                <a:srgbClr val="9DA3AF"/>
              </a:solidFill>
              <a:highlight>
                <a:srgbClr val="161A22"/>
              </a:highlight>
              <a:latin typeface="Roboto"/>
              <a:ea typeface="Roboto"/>
              <a:cs typeface="Roboto"/>
              <a:sym typeface="Roboto"/>
            </a:endParaRPr>
          </a:p>
          <a:p>
            <a:pPr indent="0" lvl="0" marL="0" rtl="0" algn="l">
              <a:lnSpc>
                <a:spcPct val="115000"/>
              </a:lnSpc>
              <a:spcBef>
                <a:spcPts val="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050">
                <a:solidFill>
                  <a:schemeClr val="dk1"/>
                </a:solidFill>
              </a:rPr>
              <a:t>Problem:</a:t>
            </a:r>
            <a:endParaRPr b="1" sz="1050">
              <a:solidFill>
                <a:schemeClr val="dk1"/>
              </a:solidFill>
            </a:endParaRPr>
          </a:p>
          <a:p>
            <a:pPr indent="-295275" lvl="0" marL="457200" rtl="0" algn="l">
              <a:spcBef>
                <a:spcPts val="1200"/>
              </a:spcBef>
              <a:spcAft>
                <a:spcPts val="0"/>
              </a:spcAft>
              <a:buClr>
                <a:schemeClr val="dk1"/>
              </a:buClr>
              <a:buSzPts val="1050"/>
              <a:buChar char="●"/>
            </a:pPr>
            <a:r>
              <a:rPr b="1" lang="en-GB" sz="1050">
                <a:solidFill>
                  <a:schemeClr val="dk1"/>
                </a:solidFill>
              </a:rPr>
              <a:t>Sales in the US markets are growing since the start of 2022 but the sales in Canada Market is unstable. </a:t>
            </a:r>
            <a:endParaRPr b="1" sz="1050">
              <a:solidFill>
                <a:schemeClr val="dk1"/>
              </a:solidFill>
            </a:endParaRPr>
          </a:p>
          <a:p>
            <a:pPr indent="-295275" lvl="0" marL="457200" rtl="0" algn="l">
              <a:spcBef>
                <a:spcPts val="0"/>
              </a:spcBef>
              <a:spcAft>
                <a:spcPts val="0"/>
              </a:spcAft>
              <a:buClr>
                <a:schemeClr val="dk1"/>
              </a:buClr>
              <a:buSzPts val="1050"/>
              <a:buChar char="●"/>
            </a:pPr>
            <a:r>
              <a:rPr b="1" lang="en-GB" sz="1050">
                <a:solidFill>
                  <a:schemeClr val="dk1"/>
                </a:solidFill>
              </a:rPr>
              <a:t>The rate of sustainable profit by sales is questionable due to a lack of consistent </a:t>
            </a:r>
            <a:r>
              <a:rPr b="1" lang="en-GB" sz="1050">
                <a:solidFill>
                  <a:schemeClr val="dk1"/>
                </a:solidFill>
              </a:rPr>
              <a:t>frequency</a:t>
            </a:r>
            <a:r>
              <a:rPr b="1" lang="en-GB" sz="1050">
                <a:solidFill>
                  <a:schemeClr val="dk1"/>
                </a:solidFill>
              </a:rPr>
              <a:t> of purchases</a:t>
            </a:r>
            <a:endParaRPr b="1" sz="1050">
              <a:solidFill>
                <a:schemeClr val="dk1"/>
              </a:solidFill>
            </a:endParaRPr>
          </a:p>
          <a:p>
            <a:pPr indent="0" lvl="0" marL="0" rtl="0" algn="l">
              <a:spcBef>
                <a:spcPts val="1200"/>
              </a:spcBef>
              <a:spcAft>
                <a:spcPts val="0"/>
              </a:spcAft>
              <a:buNone/>
            </a:pPr>
            <a:r>
              <a:t/>
            </a:r>
            <a:endParaRPr b="1" sz="1050">
              <a:solidFill>
                <a:schemeClr val="dk1"/>
              </a:solidFill>
            </a:endParaRPr>
          </a:p>
          <a:p>
            <a:pPr indent="0" lvl="0" marL="0" rtl="0" algn="l">
              <a:spcBef>
                <a:spcPts val="1200"/>
              </a:spcBef>
              <a:spcAft>
                <a:spcPts val="0"/>
              </a:spcAft>
              <a:buNone/>
            </a:pPr>
            <a:r>
              <a:rPr b="1" lang="en-GB" sz="1050">
                <a:solidFill>
                  <a:schemeClr val="dk1"/>
                </a:solidFill>
              </a:rPr>
              <a:t>Key Question:</a:t>
            </a:r>
            <a:endParaRPr b="1" sz="1050">
              <a:solidFill>
                <a:schemeClr val="dk1"/>
              </a:solidFill>
            </a:endParaRPr>
          </a:p>
          <a:p>
            <a:pPr indent="-295275" lvl="0" marL="457200" rtl="0" algn="l">
              <a:spcBef>
                <a:spcPts val="1200"/>
              </a:spcBef>
              <a:spcAft>
                <a:spcPts val="0"/>
              </a:spcAft>
              <a:buClr>
                <a:schemeClr val="dk1"/>
              </a:buClr>
              <a:buSzPts val="1050"/>
              <a:buChar char="●"/>
            </a:pPr>
            <a:r>
              <a:rPr b="1" lang="en-GB" sz="1050">
                <a:solidFill>
                  <a:schemeClr val="dk1"/>
                </a:solidFill>
              </a:rPr>
              <a:t>What is contributing the growth within the US market?</a:t>
            </a:r>
            <a:endParaRPr b="1" sz="1050">
              <a:solidFill>
                <a:schemeClr val="dk1"/>
              </a:solidFill>
            </a:endParaRPr>
          </a:p>
          <a:p>
            <a:pPr indent="-295275" lvl="0" marL="457200" rtl="0" algn="l">
              <a:spcBef>
                <a:spcPts val="0"/>
              </a:spcBef>
              <a:spcAft>
                <a:spcPts val="0"/>
              </a:spcAft>
              <a:buClr>
                <a:schemeClr val="dk1"/>
              </a:buClr>
              <a:buSzPts val="1050"/>
              <a:buChar char="●"/>
            </a:pPr>
            <a:r>
              <a:rPr b="1" lang="en-GB" sz="1050">
                <a:solidFill>
                  <a:schemeClr val="dk1"/>
                </a:solidFill>
              </a:rPr>
              <a:t>Why there is a lack of growth </a:t>
            </a:r>
            <a:r>
              <a:rPr b="1" lang="en-GB" sz="1050">
                <a:solidFill>
                  <a:schemeClr val="dk1"/>
                </a:solidFill>
              </a:rPr>
              <a:t>within</a:t>
            </a:r>
            <a:r>
              <a:rPr b="1" lang="en-GB" sz="1050">
                <a:solidFill>
                  <a:schemeClr val="dk1"/>
                </a:solidFill>
              </a:rPr>
              <a:t> the Canada Market</a:t>
            </a:r>
            <a:endParaRPr b="1" sz="1050">
              <a:solidFill>
                <a:schemeClr val="dk1"/>
              </a:solidFill>
            </a:endParaRPr>
          </a:p>
          <a:p>
            <a:pPr indent="-295275" lvl="0" marL="457200" rtl="0" algn="l">
              <a:spcBef>
                <a:spcPts val="0"/>
              </a:spcBef>
              <a:spcAft>
                <a:spcPts val="0"/>
              </a:spcAft>
              <a:buClr>
                <a:schemeClr val="dk1"/>
              </a:buClr>
              <a:buSzPts val="1050"/>
              <a:buChar char="●"/>
            </a:pPr>
            <a:r>
              <a:rPr b="1" lang="en-GB" sz="1050">
                <a:solidFill>
                  <a:schemeClr val="dk1"/>
                </a:solidFill>
              </a:rPr>
              <a:t>What are the possible method to create a sustainable profit period without relying too heavily on seasonal purchases?</a:t>
            </a:r>
            <a:endParaRPr b="1" sz="1050">
              <a:solidFill>
                <a:schemeClr val="dk1"/>
              </a:solidFill>
            </a:endParaRPr>
          </a:p>
          <a:p>
            <a:pPr indent="0" lvl="0" marL="0" rtl="0" algn="l">
              <a:spcBef>
                <a:spcPts val="1200"/>
              </a:spcBef>
              <a:spcAft>
                <a:spcPts val="1200"/>
              </a:spcAft>
              <a:buNone/>
            </a:pPr>
            <a:r>
              <a:t/>
            </a:r>
            <a:endParaRPr b="1" sz="105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Dataset</a:t>
            </a:r>
            <a:r>
              <a:rPr lang="en-GB"/>
              <a:t> Used</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Superstore Dataset file</a:t>
            </a:r>
            <a:endParaRPr/>
          </a:p>
          <a:p>
            <a:pPr indent="0" lvl="0" marL="0" rtl="0" algn="l">
              <a:spcBef>
                <a:spcPts val="1200"/>
              </a:spcBef>
              <a:spcAft>
                <a:spcPts val="0"/>
              </a:spcAft>
              <a:buNone/>
            </a:pPr>
            <a:r>
              <a:rPr lang="en-GB"/>
              <a:t>Link to Dataset in github: </a:t>
            </a:r>
            <a:r>
              <a:rPr lang="en-GB" u="sng">
                <a:solidFill>
                  <a:schemeClr val="hlink"/>
                </a:solidFill>
                <a:hlinkClick r:id="rId3"/>
              </a:rPr>
              <a:t>https://github.com/laigunner03/modefair/blob/main/sample_-_superstore.xls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Dashboard link:</a:t>
            </a:r>
            <a:endParaRPr/>
          </a:p>
          <a:p>
            <a:pPr indent="0" lvl="0" marL="0" rtl="0" algn="l">
              <a:spcBef>
                <a:spcPts val="1200"/>
              </a:spcBef>
              <a:spcAft>
                <a:spcPts val="0"/>
              </a:spcAft>
              <a:buNone/>
            </a:pPr>
            <a:r>
              <a:rPr lang="en-GB"/>
              <a:t>Github file: </a:t>
            </a:r>
            <a:r>
              <a:rPr lang="en-GB" u="sng">
                <a:solidFill>
                  <a:schemeClr val="hlink"/>
                </a:solidFill>
                <a:hlinkClick r:id="rId4"/>
              </a:rPr>
              <a:t>https://github.com/laigunner03/modefair/blob/main/MF%20Supersales%20Analysis.twbx</a:t>
            </a:r>
            <a:endParaRPr/>
          </a:p>
          <a:p>
            <a:pPr indent="0" lvl="0" marL="0" rtl="0" algn="l">
              <a:spcBef>
                <a:spcPts val="1200"/>
              </a:spcBef>
              <a:spcAft>
                <a:spcPts val="1200"/>
              </a:spcAft>
              <a:buNone/>
            </a:pPr>
            <a:r>
              <a:rPr lang="en-GB"/>
              <a:t>Tableau Public: https://public.tableau.com/views/MFSupersalesAnalysis/SuperSalesAnalysisStory?:language=en-US&amp;publish=yes&amp;:sid=&amp;:redirect=auth&amp;:display_count=n&amp;:origin=viz_share_link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GB" sz="1100"/>
              <a:t>Row ID (INT64)</a:t>
            </a:r>
            <a:endParaRPr sz="1100"/>
          </a:p>
          <a:p>
            <a:pPr indent="-298450" lvl="0" marL="457200" rtl="0" algn="l">
              <a:lnSpc>
                <a:spcPct val="100000"/>
              </a:lnSpc>
              <a:spcBef>
                <a:spcPts val="0"/>
              </a:spcBef>
              <a:spcAft>
                <a:spcPts val="0"/>
              </a:spcAft>
              <a:buSzPts val="1100"/>
              <a:buChar char="●"/>
            </a:pPr>
            <a:r>
              <a:rPr lang="en-GB" sz="1100"/>
              <a:t>Order ID (String)</a:t>
            </a:r>
            <a:endParaRPr sz="1100"/>
          </a:p>
          <a:p>
            <a:pPr indent="-298450" lvl="0" marL="457200" rtl="0" algn="l">
              <a:lnSpc>
                <a:spcPct val="100000"/>
              </a:lnSpc>
              <a:spcBef>
                <a:spcPts val="0"/>
              </a:spcBef>
              <a:spcAft>
                <a:spcPts val="0"/>
              </a:spcAft>
              <a:buSzPts val="1100"/>
              <a:buChar char="●"/>
            </a:pPr>
            <a:r>
              <a:rPr lang="en-GB" sz="1100"/>
              <a:t>Order Date (Date)</a:t>
            </a:r>
            <a:endParaRPr sz="1100"/>
          </a:p>
          <a:p>
            <a:pPr indent="-298450" lvl="0" marL="457200" rtl="0" algn="l">
              <a:lnSpc>
                <a:spcPct val="100000"/>
              </a:lnSpc>
              <a:spcBef>
                <a:spcPts val="0"/>
              </a:spcBef>
              <a:spcAft>
                <a:spcPts val="0"/>
              </a:spcAft>
              <a:buSzPts val="1100"/>
              <a:buChar char="●"/>
            </a:pPr>
            <a:r>
              <a:rPr lang="en-GB" sz="1100"/>
              <a:t>Ship Date </a:t>
            </a:r>
            <a:r>
              <a:rPr lang="en-GB" sz="1100"/>
              <a:t>(Date)</a:t>
            </a:r>
            <a:endParaRPr sz="1100"/>
          </a:p>
          <a:p>
            <a:pPr indent="-298450" lvl="0" marL="457200" rtl="0" algn="l">
              <a:lnSpc>
                <a:spcPct val="100000"/>
              </a:lnSpc>
              <a:spcBef>
                <a:spcPts val="0"/>
              </a:spcBef>
              <a:spcAft>
                <a:spcPts val="0"/>
              </a:spcAft>
              <a:buSzPts val="1100"/>
              <a:buChar char="●"/>
            </a:pPr>
            <a:r>
              <a:rPr lang="en-GB" sz="1100"/>
              <a:t>Ship Mode </a:t>
            </a:r>
            <a:r>
              <a:rPr lang="en-GB" sz="1100"/>
              <a:t>(String)</a:t>
            </a:r>
            <a:endParaRPr sz="1100"/>
          </a:p>
          <a:p>
            <a:pPr indent="-298450" lvl="0" marL="457200" rtl="0" algn="l">
              <a:lnSpc>
                <a:spcPct val="100000"/>
              </a:lnSpc>
              <a:spcBef>
                <a:spcPts val="0"/>
              </a:spcBef>
              <a:spcAft>
                <a:spcPts val="0"/>
              </a:spcAft>
              <a:buSzPts val="1100"/>
              <a:buChar char="●"/>
            </a:pPr>
            <a:r>
              <a:rPr lang="en-GB" sz="1100"/>
              <a:t>Customer ID</a:t>
            </a:r>
            <a:r>
              <a:rPr lang="en-GB" sz="1100"/>
              <a:t> (String)</a:t>
            </a:r>
            <a:endParaRPr sz="1100"/>
          </a:p>
          <a:p>
            <a:pPr indent="-298450" lvl="0" marL="457200" rtl="0" algn="l">
              <a:lnSpc>
                <a:spcPct val="100000"/>
              </a:lnSpc>
              <a:spcBef>
                <a:spcPts val="0"/>
              </a:spcBef>
              <a:spcAft>
                <a:spcPts val="0"/>
              </a:spcAft>
              <a:buSzPts val="1100"/>
              <a:buChar char="●"/>
            </a:pPr>
            <a:r>
              <a:rPr lang="en-GB" sz="1100"/>
              <a:t>Customer Name</a:t>
            </a:r>
            <a:r>
              <a:rPr lang="en-GB" sz="1100"/>
              <a:t> (String)</a:t>
            </a:r>
            <a:endParaRPr sz="1100"/>
          </a:p>
          <a:p>
            <a:pPr indent="-298450" lvl="0" marL="457200" rtl="0" algn="l">
              <a:lnSpc>
                <a:spcPct val="100000"/>
              </a:lnSpc>
              <a:spcBef>
                <a:spcPts val="0"/>
              </a:spcBef>
              <a:spcAft>
                <a:spcPts val="0"/>
              </a:spcAft>
              <a:buSzPts val="1100"/>
              <a:buChar char="●"/>
            </a:pPr>
            <a:r>
              <a:rPr lang="en-GB" sz="1100"/>
              <a:t>Segment</a:t>
            </a:r>
            <a:r>
              <a:rPr lang="en-GB" sz="1100"/>
              <a:t> (String) (String)</a:t>
            </a:r>
            <a:endParaRPr sz="1100"/>
          </a:p>
          <a:p>
            <a:pPr indent="-298450" lvl="0" marL="457200" rtl="0" algn="l">
              <a:lnSpc>
                <a:spcPct val="100000"/>
              </a:lnSpc>
              <a:spcBef>
                <a:spcPts val="0"/>
              </a:spcBef>
              <a:spcAft>
                <a:spcPts val="0"/>
              </a:spcAft>
              <a:buSzPts val="1100"/>
              <a:buChar char="●"/>
            </a:pPr>
            <a:r>
              <a:rPr lang="en-GB" sz="1100"/>
              <a:t>Country/Region</a:t>
            </a:r>
            <a:r>
              <a:rPr lang="en-GB" sz="1100"/>
              <a:t> (String)</a:t>
            </a:r>
            <a:endParaRPr sz="1100"/>
          </a:p>
          <a:p>
            <a:pPr indent="-298450" lvl="0" marL="457200" rtl="0" algn="l">
              <a:lnSpc>
                <a:spcPct val="100000"/>
              </a:lnSpc>
              <a:spcBef>
                <a:spcPts val="0"/>
              </a:spcBef>
              <a:spcAft>
                <a:spcPts val="0"/>
              </a:spcAft>
              <a:buSzPts val="1100"/>
              <a:buChar char="●"/>
            </a:pPr>
            <a:r>
              <a:rPr lang="en-GB" sz="1100"/>
              <a:t>City</a:t>
            </a:r>
            <a:r>
              <a:rPr lang="en-GB" sz="1100"/>
              <a:t> (String)</a:t>
            </a:r>
            <a:endParaRPr sz="1100"/>
          </a:p>
          <a:p>
            <a:pPr indent="-298450" lvl="0" marL="457200" rtl="0" algn="l">
              <a:lnSpc>
                <a:spcPct val="100000"/>
              </a:lnSpc>
              <a:spcBef>
                <a:spcPts val="0"/>
              </a:spcBef>
              <a:spcAft>
                <a:spcPts val="0"/>
              </a:spcAft>
              <a:buSzPts val="1100"/>
              <a:buChar char="●"/>
            </a:pPr>
            <a:r>
              <a:rPr lang="en-GB" sz="1100"/>
              <a:t>State/Province</a:t>
            </a:r>
            <a:r>
              <a:rPr lang="en-GB" sz="1100"/>
              <a:t> (String)</a:t>
            </a:r>
            <a:endParaRPr sz="1100"/>
          </a:p>
          <a:p>
            <a:pPr indent="-298450" lvl="0" marL="457200" rtl="0" algn="l">
              <a:lnSpc>
                <a:spcPct val="100000"/>
              </a:lnSpc>
              <a:spcBef>
                <a:spcPts val="0"/>
              </a:spcBef>
              <a:spcAft>
                <a:spcPts val="0"/>
              </a:spcAft>
              <a:buSzPts val="1100"/>
              <a:buChar char="●"/>
            </a:pPr>
            <a:r>
              <a:rPr lang="en-GB" sz="1100"/>
              <a:t>Postal Code</a:t>
            </a:r>
            <a:r>
              <a:rPr lang="en-GB" sz="1100"/>
              <a:t> (String)</a:t>
            </a:r>
            <a:endParaRPr sz="1100"/>
          </a:p>
          <a:p>
            <a:pPr indent="-298450" lvl="0" marL="457200" rtl="0" algn="l">
              <a:lnSpc>
                <a:spcPct val="100000"/>
              </a:lnSpc>
              <a:spcBef>
                <a:spcPts val="0"/>
              </a:spcBef>
              <a:spcAft>
                <a:spcPts val="0"/>
              </a:spcAft>
              <a:buSzPts val="1100"/>
              <a:buChar char="●"/>
            </a:pPr>
            <a:r>
              <a:rPr lang="en-GB" sz="1100"/>
              <a:t>Region</a:t>
            </a:r>
            <a:r>
              <a:rPr lang="en-GB" sz="1100"/>
              <a:t> (String)</a:t>
            </a:r>
            <a:endParaRPr sz="1100"/>
          </a:p>
          <a:p>
            <a:pPr indent="-298450" lvl="0" marL="457200" rtl="0" algn="l">
              <a:lnSpc>
                <a:spcPct val="100000"/>
              </a:lnSpc>
              <a:spcBef>
                <a:spcPts val="0"/>
              </a:spcBef>
              <a:spcAft>
                <a:spcPts val="0"/>
              </a:spcAft>
              <a:buSzPts val="1100"/>
              <a:buChar char="●"/>
            </a:pPr>
            <a:r>
              <a:rPr lang="en-GB" sz="1100"/>
              <a:t>Product ID</a:t>
            </a:r>
            <a:r>
              <a:rPr lang="en-GB" sz="1100"/>
              <a:t> (String)</a:t>
            </a:r>
            <a:endParaRPr sz="1100"/>
          </a:p>
          <a:p>
            <a:pPr indent="-298450" lvl="0" marL="457200" rtl="0" algn="l">
              <a:lnSpc>
                <a:spcPct val="100000"/>
              </a:lnSpc>
              <a:spcBef>
                <a:spcPts val="0"/>
              </a:spcBef>
              <a:spcAft>
                <a:spcPts val="0"/>
              </a:spcAft>
              <a:buSzPts val="1100"/>
              <a:buChar char="●"/>
            </a:pPr>
            <a:r>
              <a:rPr lang="en-GB" sz="1100"/>
              <a:t>Category</a:t>
            </a:r>
            <a:r>
              <a:rPr lang="en-GB" sz="1100"/>
              <a:t> (String)</a:t>
            </a:r>
            <a:endParaRPr sz="1100"/>
          </a:p>
          <a:p>
            <a:pPr indent="-298450" lvl="0" marL="457200" rtl="0" algn="l">
              <a:lnSpc>
                <a:spcPct val="100000"/>
              </a:lnSpc>
              <a:spcBef>
                <a:spcPts val="0"/>
              </a:spcBef>
              <a:spcAft>
                <a:spcPts val="0"/>
              </a:spcAft>
              <a:buSzPts val="1100"/>
              <a:buChar char="●"/>
            </a:pPr>
            <a:r>
              <a:rPr lang="en-GB" sz="1100"/>
              <a:t>Sub-Category</a:t>
            </a:r>
            <a:r>
              <a:rPr lang="en-GB" sz="1100"/>
              <a:t> (String)</a:t>
            </a:r>
            <a:endParaRPr sz="1100"/>
          </a:p>
          <a:p>
            <a:pPr indent="-298450" lvl="0" marL="457200" rtl="0" algn="l">
              <a:lnSpc>
                <a:spcPct val="100000"/>
              </a:lnSpc>
              <a:spcBef>
                <a:spcPts val="0"/>
              </a:spcBef>
              <a:spcAft>
                <a:spcPts val="0"/>
              </a:spcAft>
              <a:buSzPts val="1100"/>
              <a:buChar char="●"/>
            </a:pPr>
            <a:r>
              <a:rPr lang="en-GB" sz="1100"/>
              <a:t>Product Name</a:t>
            </a:r>
            <a:r>
              <a:rPr lang="en-GB" sz="1100"/>
              <a:t> (String)</a:t>
            </a:r>
            <a:endParaRPr sz="1100"/>
          </a:p>
          <a:p>
            <a:pPr indent="-298450" lvl="0" marL="457200" rtl="0" algn="l">
              <a:lnSpc>
                <a:spcPct val="100000"/>
              </a:lnSpc>
              <a:spcBef>
                <a:spcPts val="0"/>
              </a:spcBef>
              <a:spcAft>
                <a:spcPts val="0"/>
              </a:spcAft>
              <a:buSzPts val="1100"/>
              <a:buChar char="●"/>
            </a:pPr>
            <a:r>
              <a:rPr lang="en-GB" sz="1100"/>
              <a:t>Sales (Float)</a:t>
            </a:r>
            <a:endParaRPr sz="1100"/>
          </a:p>
          <a:p>
            <a:pPr indent="-298450" lvl="0" marL="457200" rtl="0" algn="l">
              <a:lnSpc>
                <a:spcPct val="100000"/>
              </a:lnSpc>
              <a:spcBef>
                <a:spcPts val="0"/>
              </a:spcBef>
              <a:spcAft>
                <a:spcPts val="0"/>
              </a:spcAft>
              <a:buSzPts val="1100"/>
              <a:buChar char="●"/>
            </a:pPr>
            <a:r>
              <a:rPr lang="en-GB" sz="1100"/>
              <a:t>Quantity (INT64)</a:t>
            </a:r>
            <a:endParaRPr sz="1100"/>
          </a:p>
          <a:p>
            <a:pPr indent="-298450" lvl="0" marL="457200" rtl="0" algn="l">
              <a:lnSpc>
                <a:spcPct val="100000"/>
              </a:lnSpc>
              <a:spcBef>
                <a:spcPts val="0"/>
              </a:spcBef>
              <a:spcAft>
                <a:spcPts val="0"/>
              </a:spcAft>
              <a:buSzPts val="1100"/>
              <a:buChar char="●"/>
            </a:pPr>
            <a:r>
              <a:rPr lang="en-GB" sz="1100"/>
              <a:t>Discount </a:t>
            </a:r>
            <a:r>
              <a:rPr lang="en-GB" sz="1100"/>
              <a:t>(Float)</a:t>
            </a:r>
            <a:endParaRPr sz="1100"/>
          </a:p>
          <a:p>
            <a:pPr indent="-298450" lvl="0" marL="457200" rtl="0" algn="l">
              <a:lnSpc>
                <a:spcPct val="100000"/>
              </a:lnSpc>
              <a:spcBef>
                <a:spcPts val="0"/>
              </a:spcBef>
              <a:spcAft>
                <a:spcPts val="0"/>
              </a:spcAft>
              <a:buSzPts val="1100"/>
              <a:buChar char="●"/>
            </a:pPr>
            <a:r>
              <a:rPr lang="en-GB" sz="1100"/>
              <a:t>Profit </a:t>
            </a:r>
            <a:r>
              <a:rPr lang="en-GB" sz="1100"/>
              <a:t>(Float)</a:t>
            </a:r>
            <a:endParaRPr sz="1100"/>
          </a:p>
          <a:p>
            <a:pPr indent="0" lvl="0" marL="0" rtl="0" algn="l">
              <a:spcBef>
                <a:spcPts val="0"/>
              </a:spcBef>
              <a:spcAft>
                <a:spcPts val="0"/>
              </a:spcAft>
              <a:buNone/>
            </a:pPr>
            <a:r>
              <a:t/>
            </a:r>
            <a:endParaRPr sz="1100"/>
          </a:p>
          <a:p>
            <a:pPr indent="0" lvl="0" marL="0" rtl="0" algn="l">
              <a:spcBef>
                <a:spcPts val="1200"/>
              </a:spcBef>
              <a:spcAft>
                <a:spcPts val="0"/>
              </a:spcAft>
              <a:buClr>
                <a:schemeClr val="dk1"/>
              </a:buClr>
              <a:buSzPts val="1100"/>
              <a:buFont typeface="Arial"/>
              <a:buNone/>
            </a:pPr>
            <a:r>
              <a:t/>
            </a:r>
            <a:endParaRPr sz="1100"/>
          </a:p>
          <a:p>
            <a:pPr indent="0" lvl="0" marL="0" rtl="0" algn="l">
              <a:spcBef>
                <a:spcPts val="1200"/>
              </a:spcBef>
              <a:spcAft>
                <a:spcPts val="1200"/>
              </a:spcAft>
              <a:buNone/>
            </a:pPr>
            <a:r>
              <a:t/>
            </a:r>
            <a:endParaRPr sz="1100"/>
          </a:p>
        </p:txBody>
      </p:sp>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GB" sz="2500"/>
              <a:t>Data model or table structure</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GB" sz="2500"/>
              <a:t>Key metric definitions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Sales: Total price the product is sold for</a:t>
            </a:r>
            <a:endParaRPr/>
          </a:p>
          <a:p>
            <a:pPr indent="0" lvl="0" marL="0" rtl="0" algn="l">
              <a:spcBef>
                <a:spcPts val="1200"/>
              </a:spcBef>
              <a:spcAft>
                <a:spcPts val="0"/>
              </a:spcAft>
              <a:buNone/>
            </a:pPr>
            <a:r>
              <a:rPr lang="en-GB"/>
              <a:t>Profit: Total Profit ear</a:t>
            </a:r>
            <a:endParaRPr/>
          </a:p>
          <a:p>
            <a:pPr indent="0" lvl="0" marL="0" rtl="0" algn="l">
              <a:spcBef>
                <a:spcPts val="1200"/>
              </a:spcBef>
              <a:spcAft>
                <a:spcPts val="0"/>
              </a:spcAft>
              <a:buNone/>
            </a:pPr>
            <a:r>
              <a:rPr lang="en-GB"/>
              <a:t>Quantity: Amount of Product Sold</a:t>
            </a:r>
            <a:endParaRPr/>
          </a:p>
          <a:p>
            <a:pPr indent="0" lvl="0" marL="0" rtl="0" algn="l">
              <a:spcBef>
                <a:spcPts val="1200"/>
              </a:spcBef>
              <a:spcAft>
                <a:spcPts val="0"/>
              </a:spcAft>
              <a:buNone/>
            </a:pPr>
            <a:r>
              <a:rPr lang="en-GB"/>
              <a:t>Discount Used: Total amount of Discount used by customer</a:t>
            </a:r>
            <a:endParaRPr/>
          </a:p>
          <a:p>
            <a:pPr indent="0" lvl="0" marL="0" rtl="0" algn="l">
              <a:spcBef>
                <a:spcPts val="1200"/>
              </a:spcBef>
              <a:spcAft>
                <a:spcPts val="0"/>
              </a:spcAft>
              <a:buNone/>
            </a:pPr>
            <a:r>
              <a:rPr lang="en-GB"/>
              <a:t>Customer ID: Unique ID of the customer</a:t>
            </a:r>
            <a:endParaRPr/>
          </a:p>
          <a:p>
            <a:pPr indent="0" lvl="0" marL="0" rtl="0" algn="l">
              <a:spcBef>
                <a:spcPts val="1200"/>
              </a:spcBef>
              <a:spcAft>
                <a:spcPts val="0"/>
              </a:spcAft>
              <a:buNone/>
            </a:pPr>
            <a:r>
              <a:rPr lang="en-GB"/>
              <a:t>Latest Order Date: Latest date the customer made order with the company</a:t>
            </a:r>
            <a:endParaRPr/>
          </a:p>
          <a:p>
            <a:pPr indent="0" lvl="0" marL="0" rtl="0" algn="l">
              <a:spcBef>
                <a:spcPts val="1200"/>
              </a:spcBef>
              <a:spcAft>
                <a:spcPts val="0"/>
              </a:spcAft>
              <a:buNone/>
            </a:pPr>
            <a:r>
              <a:rPr lang="en-GB"/>
              <a:t>Segment: Product Category</a:t>
            </a:r>
            <a:endParaRPr/>
          </a:p>
          <a:p>
            <a:pPr indent="0" lvl="0" marL="0" rtl="0" algn="l">
              <a:spcBef>
                <a:spcPts val="1200"/>
              </a:spcBef>
              <a:spcAft>
                <a:spcPts val="1200"/>
              </a:spcAft>
              <a:buNone/>
            </a:pPr>
            <a:r>
              <a:rPr lang="en-GB"/>
              <a:t>Sub-Category: Type of product within Category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As shown within the Sales by Top 10 states for past 3 years, most of the company sales are made within top most populated states within the US.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This points to a consistent possible method of creating a sustainable profit for the company but with the key point of the heavy competition within those states with our competitors</a:t>
            </a:r>
            <a:endParaRPr/>
          </a:p>
        </p:txBody>
      </p:sp>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Cohort, retention, or repeat behaviour analysis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Segmentation analysis</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Within Sales Details in top 10 States, the most sales we made within the Product Category are in the Technology Category yet the quantity sold is lower than the Office Supplies Category .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This points to the high profitability of the Technology Category but with the lower amount of quantity sold points to the lack of suitability as a sustainable source of profit. </a:t>
            </a:r>
            <a:br>
              <a:rPr lang="en-GB"/>
            </a:br>
            <a:br>
              <a:rPr lang="en-GB"/>
            </a:br>
            <a:r>
              <a:rPr lang="en-GB"/>
              <a:t>Unlike office supplies that despite the lower profitability is constantly being purchased by our customer which points to a higher suitability as </a:t>
            </a:r>
            <a:r>
              <a:rPr lang="en-GB"/>
              <a:t>a sustainable source of profit.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Dashboard design and daily monitoring approach</a:t>
            </a:r>
            <a:endParaRPr/>
          </a:p>
        </p:txBody>
      </p:sp>
      <p:sp>
        <p:nvSpPr>
          <p:cNvPr id="103" name="Google Shape;103;p21"/>
          <p:cNvSpPr txBox="1"/>
          <p:nvPr>
            <p:ph idx="1" type="body"/>
          </p:nvPr>
        </p:nvSpPr>
        <p:spPr>
          <a:xfrm>
            <a:off x="311700" y="3897325"/>
            <a:ext cx="8520600" cy="10656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GB"/>
              <a:t>The daily </a:t>
            </a:r>
            <a:r>
              <a:rPr lang="en-GB"/>
              <a:t>monitoring</a:t>
            </a:r>
            <a:r>
              <a:rPr lang="en-GB"/>
              <a:t> page is the page that shows the key metrics that needed to be monitor including the general trend of Profit and Sales for past 3 months, Total Sales,</a:t>
            </a:r>
            <a:r>
              <a:rPr lang="en-GB"/>
              <a:t>Total</a:t>
            </a:r>
            <a:r>
              <a:rPr lang="en-GB"/>
              <a:t> Profit, Total Quantity of Product sold by country. And the key top clients to keep track by Sales and Profit respectively</a:t>
            </a:r>
            <a:endParaRPr/>
          </a:p>
        </p:txBody>
      </p:sp>
      <p:pic>
        <p:nvPicPr>
          <p:cNvPr id="104" name="Google Shape;104;p21" title="Screenshot 2026-06-23 155007.png"/>
          <p:cNvPicPr preferRelativeResize="0"/>
          <p:nvPr/>
        </p:nvPicPr>
        <p:blipFill>
          <a:blip r:embed="rId3">
            <a:alphaModFix/>
          </a:blip>
          <a:stretch>
            <a:fillRect/>
          </a:stretch>
        </p:blipFill>
        <p:spPr>
          <a:xfrm>
            <a:off x="311700" y="1152475"/>
            <a:ext cx="8520600" cy="26394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Data quality issues and missing data points</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Current dataset is missing any supporting data to support a proper funnel chart as the business model of the dataset used is a simple B2C business without any support data like marketing or advertising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Recommended engineering instrumentation</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Recommendation to include marketing or advertisement data into the dataset </a:t>
            </a:r>
            <a:r>
              <a:rPr lang="en-GB"/>
              <a:t>especially</a:t>
            </a:r>
            <a:r>
              <a:rPr lang="en-GB"/>
              <a:t> the number of </a:t>
            </a:r>
            <a:r>
              <a:rPr lang="en-GB"/>
              <a:t>clicks</a:t>
            </a:r>
            <a:r>
              <a:rPr lang="en-GB"/>
              <a:t>, duration of view in order to help with the Pre-order phase of the user journey</a:t>
            </a:r>
            <a:endParaRPr/>
          </a:p>
          <a:p>
            <a:pPr indent="-317500" lvl="1" marL="914400" rtl="0" algn="l">
              <a:spcBef>
                <a:spcPts val="0"/>
              </a:spcBef>
              <a:spcAft>
                <a:spcPts val="0"/>
              </a:spcAft>
              <a:buSzPts val="1400"/>
              <a:buChar char="○"/>
            </a:pPr>
            <a:r>
              <a:rPr lang="en-GB"/>
              <a:t>This would help with the </a:t>
            </a:r>
            <a:r>
              <a:rPr lang="en-GB"/>
              <a:t>marketing</a:t>
            </a:r>
            <a:r>
              <a:rPr lang="en-GB"/>
              <a:t> strategy or method to attract more clients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Office supplies is pointed to be as a feasible product to possibly push sales in as the </a:t>
            </a:r>
            <a:r>
              <a:rPr lang="en-GB">
                <a:solidFill>
                  <a:schemeClr val="dk1"/>
                </a:solidFill>
              </a:rPr>
              <a:t>product</a:t>
            </a:r>
            <a:r>
              <a:rPr lang="en-GB">
                <a:solidFill>
                  <a:schemeClr val="dk1"/>
                </a:solidFill>
              </a:rPr>
              <a:t> such as chairs tend to be the number one furniture being purchase for any offices next to desk.</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It is recommended to push more marketing towards this category of product with possibly of a bulk purchase discount in order to attract more customer or repeat business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In order to increase our presence within the Canada Market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The recommendation is to research our competitors within the Canadian market and conduct market survey while involving our Canadian staff to include some ground level view that any research or survey may have missed</a:t>
            </a:r>
            <a:endParaRPr>
              <a:solidFill>
                <a:schemeClr val="dk1"/>
              </a:solidFill>
            </a:endParaRPr>
          </a:p>
          <a:p>
            <a:pPr indent="0" lvl="0" marL="0" rtl="0" algn="l">
              <a:spcBef>
                <a:spcPts val="0"/>
              </a:spcBef>
              <a:spcAft>
                <a:spcPts val="1200"/>
              </a:spcAft>
              <a:buNone/>
            </a:pPr>
            <a:r>
              <a:t/>
            </a:r>
            <a:endParaRPr/>
          </a:p>
        </p:txBody>
      </p:sp>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GB" sz="2500"/>
              <a:t>Final recommendations and next steps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